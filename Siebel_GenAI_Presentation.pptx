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Oracle Siebel ×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F8AFF"/>
                </a:solidFill>
              </a:defRPr>
            </a:pPr>
            <a:r>
              <a:t>Order Summarization — Technical Architecture &amp; POC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</a:defRPr>
            </a:pPr>
            <a:r>
              <a:t>Prepared by: Vishal  |  Date: June 21, 2026  |  Version 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3200400" cy="10972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POC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✅ Complete &amp; Tested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754880"/>
            <a:ext cx="3200400" cy="10972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AI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5CFC"/>
                </a:solidFill>
              </a:defRPr>
            </a:pPr>
            <a:r>
              <a:t>LLaMA 3.2 (3B) via 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754880"/>
            <a:ext cx="3200400" cy="10972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Production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8AFF"/>
                </a:solidFill>
              </a:defRPr>
            </a:pPr>
            <a:r>
              <a:t>OCI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Why Gen AI for Siebel CRM?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12848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585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5856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POC Architecture &amp; Live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71215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169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1693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End-to-End Data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753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75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Production Architecture (OCI)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87952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336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3367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RAG vs Fine-Tuning — When to Use What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846320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Security &amp; Data 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504688"/>
            <a:ext cx="10058400" cy="54864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5504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5504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Generative AI for Siebel CRM?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468880" cy="1828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⏱️ Manual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Agents spend 5-10 min reading through</a:t>
            </a:r>
            <a:br/>
            <a:r>
              <a:t>long orders to understand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468880" cy="1828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📋 Inconsistency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Different agents interpret the same</a:t>
            </a:r>
            <a:br/>
            <a:r>
              <a:t>order differently — no standardization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🔍 Missed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Upsell opportunities and risks</a:t>
            </a:r>
            <a:br/>
            <a:r>
              <a:t>are overlooked in complex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45920"/>
            <a:ext cx="2468880" cy="1828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💰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22860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High cost per interaction due to</a:t>
            </a:r>
            <a:br/>
            <a:r>
              <a:t>extended handle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The Solution: AI-Powered Order Summarization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•  Instant, consistent AI-generated summaries of any Siebel order in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•  Natural language Q&amp;A — agents can ask specific questions about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•  Automatic risk identification and upsell opportunity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172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•  Reduce average handle time by 40-60%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POC Architecture (Current)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0040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8AFF"/>
                </a:solidFill>
              </a:defRPr>
            </a:pPr>
            <a:r>
              <a:t>🖥️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Streamlit + HTML/JS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Port 8501 / 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User fills order form</a:t>
            </a:r>
            <a:br/>
            <a:r>
              <a:t>and asks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0040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5CFC"/>
                </a:solidFill>
              </a:defRPr>
            </a:pPr>
            <a:r>
              <a:t>⚡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FastAPI +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Port 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Validates data, builds</a:t>
            </a:r>
            <a:br/>
            <a:r>
              <a:t>prompt, routes to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20040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🧠 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Ollama + LLaMA 3.2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Port 11434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3B parameter model</a:t>
            </a:r>
            <a:br/>
            <a:r>
              <a:t>running on local 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C5CFC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C5CFC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12080"/>
            <a:ext cx="10332720" cy="10972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</a:defRPr>
            </a:pPr>
            <a:r>
              <a:t>Key POC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60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Response Time: ~60-120s (CPU)  |  Model Size: 1.9 GB  |  Tokens/sec: ~4.7  |  Cost: $0 (local)  |  GitHub: ✅ Pushed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End-to-End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7373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8A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User Click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User fills order form and</a:t>
            </a:r>
            <a:br/>
            <a:r>
              <a:t>clicks 'Generate AI Summary'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45920"/>
            <a:ext cx="17373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5CFC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HTTP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Browser sends JSON payload</a:t>
            </a:r>
            <a:br/>
            <a:r>
              <a:t>to FastAPI on port 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17373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Pydantic validates all fields</a:t>
            </a:r>
            <a:br/>
            <a:r>
              <a:t>(types, ranges, required)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17373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F8A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Prompt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Order data converted to</a:t>
            </a:r>
            <a:br/>
            <a:r>
              <a:t>natural language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17373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5CFC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LLM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Prompt sent to Ollama</a:t>
            </a:r>
            <a:br/>
            <a:r>
              <a:t>→ LLaMA 3.2 inference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45920"/>
            <a:ext cx="17373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6517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AI summary returned,</a:t>
            </a:r>
            <a:br/>
            <a:r>
              <a:t>rendered in browser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5486400" cy="219456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Request Payload (JSON)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F8AFF"/>
                </a:solidFill>
              </a:defRPr>
            </a:pPr>
            <a:r>
              <a:t>{</a:t>
            </a:r>
            <a:br/>
            <a:r>
              <a:t>  "order_id": "SBL-ORD-2026-0847",</a:t>
            </a:r>
            <a:br/>
            <a:r>
              <a:t>  "customer_name": "Acme Corp",</a:t>
            </a:r>
            <a:br/>
            <a:r>
              <a:t>  "line_items": [{...}],</a:t>
            </a:r>
            <a:br/>
            <a:r>
              <a:t>  "user_question": "What risks exist?"</a:t>
            </a:r>
            <a:br/>
            <a:r>
              <a:t>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97680"/>
            <a:ext cx="5486400" cy="219456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Response Payload (JSON)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</a:defRPr>
            </a:pPr>
            <a:r>
              <a:t>{</a:t>
            </a:r>
            <a:br/>
            <a:r>
              <a:t>  "order_id": "SBL-ORD-2026-0847",</a:t>
            </a:r>
            <a:br/>
            <a:r>
              <a:t>  "summary": "**Order Summary**\n...",</a:t>
            </a:r>
            <a:br/>
            <a:r>
              <a:t>  "provider": "ollama",</a:t>
            </a:r>
            <a:br/>
            <a:r>
              <a:t>  "model": "llama3.2"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Production Architecture (OCI)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8AFF"/>
                </a:solidFill>
              </a:defRPr>
            </a:pPr>
            <a:r>
              <a:t>Zero Python  •  Zero custom servers  •  100% Oracle native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6517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8AFF"/>
                </a:solidFill>
              </a:defRPr>
            </a:pPr>
            <a:r>
              <a:t>Siebel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Existing UI</a:t>
            </a:r>
            <a:br/>
            <a:r>
              <a:t>Workflow trigger</a:t>
            </a:r>
            <a:br/>
            <a:r>
              <a:t>EAI HTTP 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11680"/>
            <a:ext cx="26517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19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5CFC"/>
                </a:solidFill>
              </a:defRPr>
            </a:pPr>
            <a:r>
              <a:t>OIC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Oracle Integration Cloud</a:t>
            </a:r>
            <a:br/>
            <a:r>
              <a:t>Handles API Signing</a:t>
            </a:r>
            <a:br/>
            <a:r>
              <a:t>Data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6517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OCI 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Rate limiting</a:t>
            </a:r>
            <a:br/>
            <a:r>
              <a:t>Authentication</a:t>
            </a:r>
            <a:br/>
            <a:r>
              <a:t>HTTPS/TLS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2011680"/>
            <a:ext cx="2651760" cy="22860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39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OCI Gen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39" y="27432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Cohere / Llama 3</a:t>
            </a:r>
            <a:br/>
            <a:r>
              <a:t>Oracle GPU clusters</a:t>
            </a:r>
            <a:br/>
            <a:r>
              <a:t>2-5 sec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4880"/>
            <a:ext cx="5303520" cy="1828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POC vs Production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POC:  Python + Ollama + CPU → 60-120s</a:t>
            </a:r>
            <a:br/>
            <a:r>
              <a:t>Prod: OIC + OCI Gen AI + GPU → 2-5s</a:t>
            </a:r>
            <a:br/>
            <a:br/>
            <a:r>
              <a:t>Same concepts, enterprise-grade execution.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54880"/>
            <a:ext cx="5303520" cy="1828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Key Benefit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3035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</a:defRPr>
            </a:pPr>
            <a:r>
              <a:t>All data stays within Oracle's private</a:t>
            </a:r>
            <a:br/>
            <a:r>
              <a:t>cloud network (VCN). No data ever touches</a:t>
            </a:r>
            <a:br/>
            <a:r>
              <a:t>the public internet. Enterprise-grade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RAG vs Fine-Tuning — When to Use What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74720" cy="4114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📝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 all data directly</a:t>
            </a:r>
            <a:br/>
            <a:r>
              <a:t>in the API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Use Cases: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Order Summarization</a:t>
            </a:r>
            <a:br/>
            <a:r>
              <a:t>Sentiment Analysis</a:t>
            </a:r>
            <a:br/>
            <a:r>
              <a:t>Email Drafting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✅ Current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74720" cy="4114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🔍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Search a knowledge base,</a:t>
            </a:r>
            <a:br/>
            <a:r>
              <a:t>inject results into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Use Cases: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Policy Lookups</a:t>
            </a:r>
            <a:br/>
            <a:r>
              <a:t>KB Article Search</a:t>
            </a:r>
            <a:br/>
            <a:r>
              <a:t>FAQ Answering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⏳ Phase 2 (Future)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1645920"/>
            <a:ext cx="3474720" cy="41148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9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</a:defRPr>
            </a:pPr>
            <a:r>
              <a:t>🧠 Fine-Tuning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Retrain the model on</a:t>
            </a:r>
            <a:br/>
            <a:r>
              <a:t>thousands of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Use Cases: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3657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Custom output formats</a:t>
            </a:r>
            <a:br/>
            <a:r>
              <a:t>Brand voice training</a:t>
            </a:r>
            <a:br/>
            <a:r>
              <a:t>Domain-specific jargon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4846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</a:defRPr>
            </a:pPr>
            <a:r>
              <a:t>❌ Not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</a:defRPr>
            </a:pPr>
            <a:r>
              <a:t>Recommendation: Prompt Engineering is sufficient for Order Summarization. RAG is only needed for Knowledge Base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&amp; Data Privacy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74720" cy="20116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5CFC"/>
                </a:solidFill>
              </a:defRPr>
            </a:pPr>
            <a:r>
              <a:t>🔐 OCI API Signing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RSA-SHA256 cryptographic request signing.</a:t>
            </a:r>
            <a:br/>
            <a:r>
              <a:t>No passwords sent over the wire.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20116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AFF"/>
                </a:solidFill>
              </a:defRPr>
            </a:pPr>
            <a:r>
              <a:t>🌐 Private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All traffic routed through OCI VCN.</a:t>
            </a:r>
            <a:br/>
            <a:r>
              <a:t>No data touches public internet.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645920"/>
            <a:ext cx="3474720" cy="20116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9" y="1828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🔑 Key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9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Private keys stored in OCI Vault.</a:t>
            </a:r>
            <a:br/>
            <a:r>
              <a:t>Rotated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3474720" cy="20116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🛡️ IAM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Fine-grained access control.</a:t>
            </a:r>
            <a:br/>
            <a:r>
              <a:t>Only authorized users can invoke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0116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📋 No Data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OCI Gen AI does not store prompts</a:t>
            </a:r>
            <a:br/>
            <a:r>
              <a:t>or responses after processing.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4023360"/>
            <a:ext cx="3474720" cy="201168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9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AFF"/>
                </a:solidFill>
              </a:defRPr>
            </a:pPr>
            <a:r>
              <a:t>🏢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4754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SOC 2, ISO 27001, HIPAA eligible.</a:t>
            </a:r>
            <a:br/>
            <a:r>
              <a:t>Oracle enterprise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10312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✅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Local LLM + FastAPI</a:t>
            </a:r>
            <a:br/>
            <a:r>
              <a:t>+ Streamlit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10312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8AFF"/>
                </a:solidFill>
              </a:defRPr>
            </a:pPr>
            <a:r>
              <a:t>OCI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CC"/>
                </a:solidFill>
              </a:defRPr>
            </a:pPr>
            <a:r>
              <a:t>4-6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Move to OCI Gen AI</a:t>
            </a:r>
            <a:br/>
            <a:r>
              <a:t>via OIC middleware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10312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5CFC"/>
                </a:solidFill>
              </a:defRPr>
            </a:pPr>
            <a:r>
              <a:t>RAG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CC"/>
                </a:solidFill>
              </a:defRPr>
            </a:pPr>
            <a:r>
              <a:t>6-8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Connect Siebel KB</a:t>
            </a:r>
            <a:br/>
            <a:r>
              <a:t>for policy-aware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645920"/>
            <a:ext cx="210312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Siebel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CC"/>
                </a:solidFill>
              </a:defRPr>
            </a:pPr>
            <a:r>
              <a:t>4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Embed AI button in</a:t>
            </a:r>
            <a:br/>
            <a:r>
              <a:t>Siebel Order Applet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645920"/>
            <a:ext cx="2103120" cy="32004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</a:defRPr>
            </a:pPr>
            <a:r>
              <a:t>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Expansion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CC"/>
                </a:solidFill>
              </a:defRPr>
            </a:pPr>
            <a: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200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SR summary, email</a:t>
            </a:r>
            <a:br/>
            <a:r>
              <a:t>draft, lead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10972800" cy="118872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C"/>
                </a:solidFill>
              </a:defRPr>
            </a:pPr>
            <a:r>
              <a:t>Immediate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1. Review this deck and approve Phase 2 timeline    2. Provision OCI tenancy with Gen AI access    3. Set up OIC instance with REST + OCI Gen AI adapters    4. Begin integration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8A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14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709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0292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GitHub: github.com/vishal-crmdeveloper/Siebel-Gen-AI-POC</a:t>
            </a:r>
            <a:br/>
            <a:r>
              <a:t>Swagger Docs: localhost:8000/docs</a:t>
            </a:r>
            <a:br/>
            <a:r>
              <a:t>Streamlit UI: localhost:8501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